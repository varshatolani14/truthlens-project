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t>TruthLens AI</a:t>
            </a:r>
          </a:p>
          <a:p>
            <a:pPr algn="ctr">
              <a:defRPr sz="2500" b="1"/>
            </a:pPr>
            <a:r>
              <a:t>Explainable Fake News Detection using NLP</a:t>
            </a:r>
          </a:p>
          <a:p>
            <a:pPr algn="ctr">
              <a:defRPr sz="1700"/>
            </a:pPr>
            <a:r>
              <a:t>AAT: Topic Exploration, Implementation, Validation and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206240"/>
            <a:ext cx="8503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[Student 1 / USN]    |    [Student 2 / USN]</a:t>
            </a:r>
          </a:p>
          <a:p>
            <a:pPr algn="ctr">
              <a:defRPr sz="1600"/>
            </a:pPr>
            <a:r>
              <a:t>Department of Machine Learning, B.M.S.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Why this is an NLP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Online news creates a large volume of text that can be difficult to review manually.</a:t>
            </a:r>
          </a:p>
          <a:p>
            <a:pPr>
              <a:spcAft>
                <a:spcPts val="1000"/>
              </a:spcAft>
              <a:defRPr sz="2000"/>
            </a:pPr>
            <a:r>
              <a:t>The project studies whether article wording and contextual patterns can be used for supervised text classification.</a:t>
            </a:r>
          </a:p>
          <a:p>
            <a:pPr>
              <a:spcAft>
                <a:spcPts val="1000"/>
              </a:spcAft>
              <a:defRPr sz="2000"/>
            </a:pPr>
            <a:r>
              <a:t>The target is a screening signal that can support human review, not an automatic truth verdict.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What we implement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Clean and validate a labelled news corpus.</a:t>
            </a:r>
          </a:p>
          <a:p>
            <a:pPr>
              <a:spcAft>
                <a:spcPts val="1000"/>
              </a:spcAft>
              <a:defRPr sz="2000"/>
            </a:pPr>
            <a:r>
              <a:t>Build a TF-IDF + Logistic Regression reference model.</a:t>
            </a:r>
          </a:p>
          <a:p>
            <a:pPr>
              <a:spcAft>
                <a:spcPts val="1000"/>
              </a:spcAft>
              <a:defRPr sz="2000"/>
            </a:pPr>
            <a:r>
              <a:t>Fine-tune DistilBERT for the same binary task.</a:t>
            </a:r>
          </a:p>
          <a:p>
            <a:pPr>
              <a:spcAft>
                <a:spcPts val="1000"/>
              </a:spcAft>
              <a:defRPr sz="2000"/>
            </a:pPr>
            <a:r>
              <a:t>Evaluate accuracy, precision, recall and F1 on the same held-out test set.</a:t>
            </a:r>
          </a:p>
          <a:p>
            <a:pPr>
              <a:spcAft>
                <a:spcPts val="1000"/>
              </a:spcAft>
              <a:defRPr sz="2000"/>
            </a:pPr>
            <a:r>
              <a:t>Use LIME for local explanations and expose the result through a simple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3.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Research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BERT (Devlin et al., 2019): contextual transformer language representations.</a:t>
            </a:r>
          </a:p>
          <a:p>
            <a:pPr>
              <a:spcAft>
                <a:spcPts val="1000"/>
              </a:spcAft>
              <a:defRPr sz="1800"/>
            </a:pPr>
            <a:r>
              <a:t>DistilBERT (Sanh et al., 2019): compact transformer with lower computational cost.</a:t>
            </a:r>
          </a:p>
          <a:p>
            <a:pPr>
              <a:spcAft>
                <a:spcPts val="1000"/>
              </a:spcAft>
              <a:defRPr sz="1800"/>
            </a:pPr>
            <a:r>
              <a:t>Fake-news detection literature: content and contextual signals can be used in classification systems.</a:t>
            </a:r>
          </a:p>
          <a:p>
            <a:pPr>
              <a:spcAft>
                <a:spcPts val="1000"/>
              </a:spcAft>
              <a:defRPr sz="1800"/>
            </a:pPr>
            <a:r>
              <a:t>LIME (Ribeiro et al., 2016): local, model-agnostic explanations for individual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4. Dataset and Pre-processing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ISOT Fake News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Two source files: True.csv and Fake.csv.</a:t>
            </a:r>
          </a:p>
          <a:p>
            <a:pPr>
              <a:spcAft>
                <a:spcPts val="1000"/>
              </a:spcAft>
              <a:defRPr sz="2000"/>
            </a:pPr>
            <a:r>
              <a:t>Primary experiment: 5,000 examples per class, sampled with seed 42.</a:t>
            </a:r>
          </a:p>
          <a:p>
            <a:pPr>
              <a:spcAft>
                <a:spcPts val="1000"/>
              </a:spcAft>
              <a:defRPr sz="2000"/>
            </a:pPr>
            <a:r>
              <a:t>Cleaning: missing values, URLs, obvious source-prefix artifacts, whitespace and duplicates.</a:t>
            </a:r>
          </a:p>
          <a:p>
            <a:pPr>
              <a:spcAft>
                <a:spcPts val="1000"/>
              </a:spcAft>
              <a:defRPr sz="2000"/>
            </a:pPr>
            <a:r>
              <a:t>Split: 70% train, 15% validation and 15% test, stratified by label.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5.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Two modelling branches from the same cleaned text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32720" cy="42523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6. Baseline: TF-IDF + 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Fast and interpretable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TF-IDF converts words and bigrams into weighted sparse features.</a:t>
            </a:r>
          </a:p>
          <a:p>
            <a:pPr>
              <a:spcAft>
                <a:spcPts val="1000"/>
              </a:spcAft>
              <a:defRPr sz="1800"/>
            </a:pPr>
            <a:r>
              <a:t>Vocabulary capped at 20,000 features with sublinear term-frequency scaling.</a:t>
            </a:r>
          </a:p>
          <a:p>
            <a:pPr>
              <a:spcAft>
                <a:spcPts val="1000"/>
              </a:spcAft>
              <a:defRPr sz="1800"/>
            </a:pPr>
            <a:r>
              <a:t>Logistic Regression learns a binary decision boundary over the TF-IDF vectors.</a:t>
            </a:r>
          </a:p>
          <a:p>
            <a:pPr>
              <a:spcAft>
                <a:spcPts val="1000"/>
              </a:spcAft>
              <a:defRPr sz="1800"/>
            </a:pPr>
            <a:r>
              <a:t>This model helps separate genuine transformer gains from gains caused simply by preprocessing.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7. Transformer: DistilBERT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Contextual language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Tokenizer converts text to subword IDs and attention masks.</a:t>
            </a:r>
          </a:p>
          <a:p>
            <a:pPr>
              <a:spcAft>
                <a:spcPts val="1000"/>
              </a:spcAft>
              <a:defRPr sz="1800"/>
            </a:pPr>
            <a:r>
              <a:t>DistilBERT encoder builds contextual representations.</a:t>
            </a:r>
          </a:p>
          <a:p>
            <a:pPr>
              <a:spcAft>
                <a:spcPts val="1000"/>
              </a:spcAft>
              <a:defRPr sz="1800"/>
            </a:pPr>
            <a:r>
              <a:t>A two-class classification head produces FAKE and REAL logits.</a:t>
            </a:r>
          </a:p>
          <a:p>
            <a:pPr>
              <a:spcAft>
                <a:spcPts val="1000"/>
              </a:spcAft>
              <a:defRPr sz="1800"/>
            </a:pPr>
            <a:r>
              <a:t>Training uses AdamW, learning rate 2e-5, maximum length 256, batch size 8 and 2 epochs.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8.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Fair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Same cleaned text and same stratified test set for both models.</a:t>
            </a:r>
          </a:p>
          <a:p>
            <a:pPr>
              <a:spcAft>
                <a:spcPts val="1000"/>
              </a:spcAft>
              <a:defRPr sz="1800"/>
            </a:pPr>
            <a:r>
              <a:t>Fixed random seed: 42.</a:t>
            </a:r>
          </a:p>
          <a:p>
            <a:pPr>
              <a:spcAft>
                <a:spcPts val="1000"/>
              </a:spcAft>
              <a:defRPr sz="1800"/>
            </a:pPr>
            <a:r>
              <a:t>Primary evaluation: accuracy, precision, recall and F1.</a:t>
            </a:r>
          </a:p>
          <a:p>
            <a:pPr>
              <a:spcAft>
                <a:spcPts val="1000"/>
              </a:spcAft>
              <a:defRPr sz="1800"/>
            </a:pPr>
            <a:r>
              <a:t>Validation is used during transformer development; test data is held back until final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9.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Measured on the held-out test split after the final run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57400"/>
                <a:gridCol w="2057400"/>
                <a:gridCol w="2057400"/>
                <a:gridCol w="2057400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t>F1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TF-IDF +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[[LR_ACC]]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[[LR_PREC]]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[[LR_REC]]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[[LR_F1]]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DistilBERT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[[BERT_ACC]]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[[BERT_PREC]]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[[BERT_REC]]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 b="0"/>
                      </a:pPr>
                      <a:r>
                        <a:t>[[BERT_F1]]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06908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0"/>
            <a:ext cx="5074920" cy="28834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10. Explainability +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From model output to a usable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LIME creates a local explanation for an individual prediction.</a:t>
            </a:r>
          </a:p>
          <a:p>
            <a:pPr>
              <a:spcAft>
                <a:spcPts val="1000"/>
              </a:spcAft>
              <a:defRPr sz="1800"/>
            </a:pPr>
            <a:r>
              <a:t>Streamlit provides a simple article-analysis UI.</a:t>
            </a:r>
          </a:p>
          <a:p>
            <a:pPr>
              <a:spcAft>
                <a:spcPts val="1000"/>
              </a:spcAft>
              <a:defRPr sz="1800"/>
            </a:pPr>
            <a:r>
              <a:t>FastAPI exposes POST /predict for programmatic use.</a:t>
            </a:r>
          </a:p>
          <a:p>
            <a:pPr>
              <a:spcAft>
                <a:spcPts val="1000"/>
              </a:spcAft>
              <a:defRPr sz="1800"/>
            </a:pPr>
            <a:r>
              <a:t>The interface explicitly warns that the output is a learned classification signal, not independent fact verification.</a:t>
            </a:r>
          </a:p>
        </p:txBody>
      </p:sp>
      <p:pic>
        <p:nvPicPr>
          <p:cNvPr id="5" name="Picture 4" descr="lime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5074920" cy="30961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4E79"/>
                </a:solidFill>
              </a:defRPr>
            </a:pPr>
            <a:r>
              <a:t>11. Limitations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t>What the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Dataset source and publisher effects may create shortcuts that do not generalize to new sources.</a:t>
            </a:r>
          </a:p>
          <a:p>
            <a:pPr>
              <a:spcAft>
                <a:spcPts val="1000"/>
              </a:spcAft>
              <a:defRPr sz="1800"/>
            </a:pPr>
            <a:r>
              <a:t>Long articles are truncated to the first 256 tokens in the transformer experiment.</a:t>
            </a:r>
          </a:p>
          <a:p>
            <a:pPr>
              <a:spcAft>
                <a:spcPts val="1000"/>
              </a:spcAft>
              <a:defRPr sz="1800"/>
            </a:pPr>
            <a:r>
              <a:t>LIME is local and approximate.</a:t>
            </a:r>
          </a:p>
          <a:p>
            <a:pPr>
              <a:spcAft>
                <a:spcPts val="1000"/>
              </a:spcAft>
              <a:defRPr sz="1800"/>
            </a:pPr>
            <a:r>
              <a:t>The completed pipeline satisfies the AAT requirements: topic study, application, architecture, implementation, evaluation, comparison, interpretation, report and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